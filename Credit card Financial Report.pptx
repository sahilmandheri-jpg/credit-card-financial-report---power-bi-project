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
  </p:notesMasterIdLst>
  <p:sldIdLst>
    <p:sldId id="256" r:id="rId2"/>
    <p:sldId id="257" r:id="rId3"/>
    <p:sldId id="262" r:id="rId4"/>
    <p:sldId id="265" r:id="rId5"/>
    <p:sldId id="264" r:id="rId6"/>
    <p:sldId id="266" r:id="rId7"/>
    <p:sldId id="267" r:id="rId8"/>
    <p:sldId id="26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9" autoAdjust="0"/>
    <p:restoredTop sz="94660"/>
  </p:normalViewPr>
  <p:slideViewPr>
    <p:cSldViewPr snapToGrid="0">
      <p:cViewPr>
        <p:scale>
          <a:sx n="63" d="100"/>
          <a:sy n="63" d="100"/>
        </p:scale>
        <p:origin x="6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5A340-FB8A-4AAE-AE76-46C6066A3419}"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99C316-2EA3-4381-830A-D3709B003159}" type="slidenum">
              <a:rPr lang="en-IN" smtClean="0"/>
              <a:t>‹#›</a:t>
            </a:fld>
            <a:endParaRPr lang="en-IN"/>
          </a:p>
        </p:txBody>
      </p:sp>
    </p:spTree>
    <p:extLst>
      <p:ext uri="{BB962C8B-B14F-4D97-AF65-F5344CB8AC3E}">
        <p14:creationId xmlns:p14="http://schemas.microsoft.com/office/powerpoint/2010/main" val="2709003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2258926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495227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1995412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FFCB50-11A2-4B78-A11C-230D11C828E7}"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1881945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CB50-11A2-4B78-A11C-230D11C828E7}" type="datetimeFigureOut">
              <a:rPr lang="en-IN" smtClean="0"/>
              <a:t>16-02-2026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2978575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FFCB50-11A2-4B78-A11C-230D11C828E7}" type="datetimeFigureOut">
              <a:rPr lang="en-IN" smtClean="0"/>
              <a:t>16-02-2026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1376561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FFCB50-11A2-4B78-A11C-230D11C828E7}" type="datetimeFigureOut">
              <a:rPr lang="en-IN" smtClean="0"/>
              <a:t>16-02-2026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4065924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FFCB50-11A2-4B78-A11C-230D11C828E7}"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3457736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82FFCB50-11A2-4B78-A11C-230D11C828E7}" type="datetimeFigureOut">
              <a:rPr lang="en-IN" smtClean="0"/>
              <a:t>16-02-2026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300533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FFCB50-11A2-4B78-A11C-230D11C828E7}"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2973267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3156748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865108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897373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14431493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1523597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2546310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FCB50-11A2-4B78-A11C-230D11C828E7}"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4E0ED6-B9E3-4820-885E-305AD8205C70}" type="slidenum">
              <a:rPr lang="en-IN" smtClean="0"/>
              <a:t>‹#›</a:t>
            </a:fld>
            <a:endParaRPr lang="en-IN"/>
          </a:p>
        </p:txBody>
      </p:sp>
    </p:spTree>
    <p:extLst>
      <p:ext uri="{BB962C8B-B14F-4D97-AF65-F5344CB8AC3E}">
        <p14:creationId xmlns:p14="http://schemas.microsoft.com/office/powerpoint/2010/main" val="1773579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82FFCB50-11A2-4B78-A11C-230D11C828E7}" type="datetimeFigureOut">
              <a:rPr lang="en-IN" smtClean="0"/>
              <a:t>16-02-2026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A64E0ED6-B9E3-4820-885E-305AD8205C70}" type="slidenum">
              <a:rPr lang="en-IN" smtClean="0"/>
              <a:t>‹#›</a:t>
            </a:fld>
            <a:endParaRPr lang="en-IN"/>
          </a:p>
        </p:txBody>
      </p:sp>
    </p:spTree>
    <p:extLst>
      <p:ext uri="{BB962C8B-B14F-4D97-AF65-F5344CB8AC3E}">
        <p14:creationId xmlns:p14="http://schemas.microsoft.com/office/powerpoint/2010/main" val="400121451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3CAA-BE5E-37D4-89AB-8BD27893D1CE}"/>
              </a:ext>
            </a:extLst>
          </p:cNvPr>
          <p:cNvSpPr>
            <a:spLocks noGrp="1"/>
          </p:cNvSpPr>
          <p:nvPr>
            <p:ph type="ctrTitle"/>
          </p:nvPr>
        </p:nvSpPr>
        <p:spPr/>
        <p:txBody>
          <a:bodyPr/>
          <a:lstStyle/>
          <a:p>
            <a:r>
              <a:rPr lang="en-IN" b="1" dirty="0"/>
              <a:t>Credit card Financial Report</a:t>
            </a:r>
          </a:p>
        </p:txBody>
      </p:sp>
      <p:sp>
        <p:nvSpPr>
          <p:cNvPr id="3" name="Subtitle 2">
            <a:extLst>
              <a:ext uri="{FF2B5EF4-FFF2-40B4-BE49-F238E27FC236}">
                <a16:creationId xmlns:a16="http://schemas.microsoft.com/office/drawing/2014/main" id="{603E2521-F136-3D07-2269-D695B93E6B4D}"/>
              </a:ext>
            </a:extLst>
          </p:cNvPr>
          <p:cNvSpPr>
            <a:spLocks noGrp="1"/>
          </p:cNvSpPr>
          <p:nvPr>
            <p:ph type="subTitle" idx="1"/>
          </p:nvPr>
        </p:nvSpPr>
        <p:spPr/>
        <p:txBody>
          <a:bodyPr/>
          <a:lstStyle/>
          <a:p>
            <a:r>
              <a:rPr lang="en-IN" dirty="0"/>
              <a:t>Getting actionable insights and hidden patterns</a:t>
            </a:r>
          </a:p>
        </p:txBody>
      </p:sp>
    </p:spTree>
    <p:extLst>
      <p:ext uri="{BB962C8B-B14F-4D97-AF65-F5344CB8AC3E}">
        <p14:creationId xmlns:p14="http://schemas.microsoft.com/office/powerpoint/2010/main" val="4275790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618B6-F127-D445-1E99-347B288B5217}"/>
              </a:ext>
            </a:extLst>
          </p:cNvPr>
          <p:cNvSpPr>
            <a:spLocks noGrp="1"/>
          </p:cNvSpPr>
          <p:nvPr>
            <p:ph type="title"/>
          </p:nvPr>
        </p:nvSpPr>
        <p:spPr/>
        <p:txBody>
          <a:bodyPr/>
          <a:lstStyle/>
          <a:p>
            <a:r>
              <a:rPr lang="en-IN" dirty="0"/>
              <a:t>Step used in analysing the data</a:t>
            </a:r>
          </a:p>
        </p:txBody>
      </p:sp>
      <p:sp>
        <p:nvSpPr>
          <p:cNvPr id="3" name="Content Placeholder 2">
            <a:extLst>
              <a:ext uri="{FF2B5EF4-FFF2-40B4-BE49-F238E27FC236}">
                <a16:creationId xmlns:a16="http://schemas.microsoft.com/office/drawing/2014/main" id="{F81C3C79-7BA4-55E5-89A9-FBA923C5FA29}"/>
              </a:ext>
            </a:extLst>
          </p:cNvPr>
          <p:cNvSpPr>
            <a:spLocks noGrp="1"/>
          </p:cNvSpPr>
          <p:nvPr>
            <p:ph idx="1"/>
          </p:nvPr>
        </p:nvSpPr>
        <p:spPr/>
        <p:txBody>
          <a:bodyPr/>
          <a:lstStyle/>
          <a:p>
            <a:pPr marL="0" indent="0">
              <a:buNone/>
            </a:pPr>
            <a:r>
              <a:rPr lang="en-IN" dirty="0"/>
              <a:t>Step 1. imported this data into my </a:t>
            </a:r>
            <a:r>
              <a:rPr lang="en-IN" dirty="0" err="1"/>
              <a:t>sql</a:t>
            </a:r>
            <a:r>
              <a:rPr lang="en-IN" dirty="0"/>
              <a:t>.</a:t>
            </a:r>
          </a:p>
          <a:p>
            <a:pPr marL="0" indent="0">
              <a:buNone/>
            </a:pPr>
            <a:r>
              <a:rPr lang="en-IN" dirty="0"/>
              <a:t>Step 2. got data into power bi by making the connection to database.</a:t>
            </a:r>
          </a:p>
          <a:p>
            <a:pPr marL="0" indent="0">
              <a:buNone/>
            </a:pPr>
            <a:r>
              <a:rPr lang="en-IN" dirty="0"/>
              <a:t>Step 3. the data was clean so no transformation was required. </a:t>
            </a:r>
          </a:p>
          <a:p>
            <a:pPr marL="0" indent="0">
              <a:buNone/>
            </a:pPr>
            <a:r>
              <a:rPr lang="en-IN" dirty="0"/>
              <a:t>Step 4.added some columns using power query and replaced some columns’ values.</a:t>
            </a:r>
          </a:p>
          <a:p>
            <a:pPr marL="0" indent="0">
              <a:buNone/>
            </a:pPr>
            <a:r>
              <a:rPr lang="en-IN" dirty="0"/>
              <a:t>Step 5. added some measures as per requirement.</a:t>
            </a:r>
          </a:p>
          <a:p>
            <a:pPr marL="0" indent="0">
              <a:buNone/>
            </a:pPr>
            <a:r>
              <a:rPr lang="en-IN" dirty="0"/>
              <a:t>Step 6. analysed the data and created dashboards.</a:t>
            </a:r>
          </a:p>
        </p:txBody>
      </p:sp>
    </p:spTree>
    <p:extLst>
      <p:ext uri="{BB962C8B-B14F-4D97-AF65-F5344CB8AC3E}">
        <p14:creationId xmlns:p14="http://schemas.microsoft.com/office/powerpoint/2010/main" val="4236466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7A6BA-5EE6-2492-2354-788DB77E41A1}"/>
              </a:ext>
            </a:extLst>
          </p:cNvPr>
          <p:cNvSpPr>
            <a:spLocks noGrp="1"/>
          </p:cNvSpPr>
          <p:nvPr>
            <p:ph type="title"/>
          </p:nvPr>
        </p:nvSpPr>
        <p:spPr/>
        <p:txBody>
          <a:bodyPr/>
          <a:lstStyle/>
          <a:p>
            <a:r>
              <a:rPr lang="en-IN" b="1" dirty="0"/>
              <a:t>Graduates Are the Volume kings</a:t>
            </a:r>
          </a:p>
        </p:txBody>
      </p:sp>
      <p:sp>
        <p:nvSpPr>
          <p:cNvPr id="3" name="Content Placeholder 2">
            <a:extLst>
              <a:ext uri="{FF2B5EF4-FFF2-40B4-BE49-F238E27FC236}">
                <a16:creationId xmlns:a16="http://schemas.microsoft.com/office/drawing/2014/main" id="{ADEC260E-2386-CB92-B2CE-37F190FDB1B8}"/>
              </a:ext>
            </a:extLst>
          </p:cNvPr>
          <p:cNvSpPr>
            <a:spLocks noGrp="1"/>
          </p:cNvSpPr>
          <p:nvPr>
            <p:ph idx="1"/>
          </p:nvPr>
        </p:nvSpPr>
        <p:spPr/>
        <p:txBody>
          <a:bodyPr/>
          <a:lstStyle/>
          <a:p>
            <a:pPr marL="0" indent="0">
              <a:buNone/>
            </a:pPr>
            <a:r>
              <a:rPr lang="en-IN" dirty="0"/>
              <a:t>Only Graduates are generating almost 40% of total revenue. Also 40% of the customers are almost 40%. </a:t>
            </a:r>
          </a:p>
          <a:p>
            <a:pPr marL="0" indent="0">
              <a:buNone/>
            </a:pPr>
            <a:r>
              <a:rPr lang="en-IN" dirty="0"/>
              <a:t>There is almost no difference among the average income of all the customers group on the basis of education.</a:t>
            </a:r>
          </a:p>
        </p:txBody>
      </p:sp>
    </p:spTree>
    <p:extLst>
      <p:ext uri="{BB962C8B-B14F-4D97-AF65-F5344CB8AC3E}">
        <p14:creationId xmlns:p14="http://schemas.microsoft.com/office/powerpoint/2010/main" val="17563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F9C88-1F01-9B59-E326-D933ADAE6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50968-50E8-B17D-1DB6-B41E99837355}"/>
              </a:ext>
            </a:extLst>
          </p:cNvPr>
          <p:cNvSpPr>
            <a:spLocks noGrp="1"/>
          </p:cNvSpPr>
          <p:nvPr>
            <p:ph type="title"/>
          </p:nvPr>
        </p:nvSpPr>
        <p:spPr/>
        <p:txBody>
          <a:bodyPr/>
          <a:lstStyle/>
          <a:p>
            <a:r>
              <a:rPr lang="en-IN" b="1" dirty="0"/>
              <a:t>Early 30 days activation – stuck revenue</a:t>
            </a:r>
          </a:p>
        </p:txBody>
      </p:sp>
      <p:sp>
        <p:nvSpPr>
          <p:cNvPr id="3" name="Content Placeholder 2">
            <a:extLst>
              <a:ext uri="{FF2B5EF4-FFF2-40B4-BE49-F238E27FC236}">
                <a16:creationId xmlns:a16="http://schemas.microsoft.com/office/drawing/2014/main" id="{CF4C6A14-37AA-726B-6C57-3670CCDF1EE5}"/>
              </a:ext>
            </a:extLst>
          </p:cNvPr>
          <p:cNvSpPr>
            <a:spLocks noGrp="1"/>
          </p:cNvSpPr>
          <p:nvPr>
            <p:ph idx="1"/>
          </p:nvPr>
        </p:nvSpPr>
        <p:spPr/>
        <p:txBody>
          <a:bodyPr/>
          <a:lstStyle/>
          <a:p>
            <a:r>
              <a:rPr lang="en-IN" dirty="0"/>
              <a:t>43% of the customers are not activating the card in first 30 days. If we can reduce this number than our revenue can increase drastically.</a:t>
            </a:r>
          </a:p>
          <a:p>
            <a:endParaRPr lang="en-IN" dirty="0"/>
          </a:p>
          <a:p>
            <a:r>
              <a:rPr lang="en-IN" b="1" dirty="0"/>
              <a:t>Action :- </a:t>
            </a:r>
            <a:r>
              <a:rPr lang="en-IN" dirty="0"/>
              <a:t>Bank should try launching some cashback offers so that these stopped customers spend money and Increase our revenue.</a:t>
            </a:r>
            <a:endParaRPr lang="en-IN" b="1" dirty="0"/>
          </a:p>
        </p:txBody>
      </p:sp>
    </p:spTree>
    <p:extLst>
      <p:ext uri="{BB962C8B-B14F-4D97-AF65-F5344CB8AC3E}">
        <p14:creationId xmlns:p14="http://schemas.microsoft.com/office/powerpoint/2010/main" val="141343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11C7F-E32C-A09E-6392-3629B8B84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80F17-0C70-C815-2125-FB33517C6E52}"/>
              </a:ext>
            </a:extLst>
          </p:cNvPr>
          <p:cNvSpPr>
            <a:spLocks noGrp="1"/>
          </p:cNvSpPr>
          <p:nvPr>
            <p:ph type="title"/>
          </p:nvPr>
        </p:nvSpPr>
        <p:spPr/>
        <p:txBody>
          <a:bodyPr/>
          <a:lstStyle/>
          <a:p>
            <a:r>
              <a:rPr lang="en-IN" b="1" dirty="0"/>
              <a:t>Revenue and customer concentration</a:t>
            </a:r>
          </a:p>
        </p:txBody>
      </p:sp>
      <p:sp>
        <p:nvSpPr>
          <p:cNvPr id="3" name="Content Placeholder 2">
            <a:extLst>
              <a:ext uri="{FF2B5EF4-FFF2-40B4-BE49-F238E27FC236}">
                <a16:creationId xmlns:a16="http://schemas.microsoft.com/office/drawing/2014/main" id="{868952F7-40FE-AF94-8CB3-E2BF4BD191E9}"/>
              </a:ext>
            </a:extLst>
          </p:cNvPr>
          <p:cNvSpPr>
            <a:spLocks noGrp="1"/>
          </p:cNvSpPr>
          <p:nvPr>
            <p:ph idx="1"/>
          </p:nvPr>
        </p:nvSpPr>
        <p:spPr/>
        <p:txBody>
          <a:bodyPr/>
          <a:lstStyle/>
          <a:p>
            <a:pPr marL="0" indent="0">
              <a:buNone/>
            </a:pPr>
            <a:r>
              <a:rPr lang="en-US" dirty="0"/>
              <a:t>Almost 94% of the customers are from only 5 states, which are generating 94% of the total revenue. This shows that the bank is heavily dependent on these regions, leaving other states as an untapped market for the bank.</a:t>
            </a:r>
          </a:p>
          <a:p>
            <a:r>
              <a:rPr lang="en-IN" b="1" dirty="0"/>
              <a:t>Action :- </a:t>
            </a:r>
            <a:r>
              <a:rPr lang="en-IN" dirty="0"/>
              <a:t>Bank should try Targeted marketing campaign or try to collaborate with local brands, so that we may get some more customers.</a:t>
            </a:r>
          </a:p>
        </p:txBody>
      </p:sp>
    </p:spTree>
    <p:extLst>
      <p:ext uri="{BB962C8B-B14F-4D97-AF65-F5344CB8AC3E}">
        <p14:creationId xmlns:p14="http://schemas.microsoft.com/office/powerpoint/2010/main" val="3041098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81E51-CAC9-2BA5-108D-2E4E689C4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F87D4-9314-586B-D47C-63A9217F572A}"/>
              </a:ext>
            </a:extLst>
          </p:cNvPr>
          <p:cNvSpPr>
            <a:spLocks noGrp="1"/>
          </p:cNvSpPr>
          <p:nvPr>
            <p:ph type="title"/>
          </p:nvPr>
        </p:nvSpPr>
        <p:spPr/>
        <p:txBody>
          <a:bodyPr/>
          <a:lstStyle/>
          <a:p>
            <a:r>
              <a:rPr lang="en-US" b="1" dirty="0"/>
              <a:t>Analysis of Delinquency Patterns</a:t>
            </a:r>
          </a:p>
        </p:txBody>
      </p:sp>
      <p:sp>
        <p:nvSpPr>
          <p:cNvPr id="3" name="Content Placeholder 2">
            <a:extLst>
              <a:ext uri="{FF2B5EF4-FFF2-40B4-BE49-F238E27FC236}">
                <a16:creationId xmlns:a16="http://schemas.microsoft.com/office/drawing/2014/main" id="{D283D16E-4992-7877-76EF-DEB14825D58F}"/>
              </a:ext>
            </a:extLst>
          </p:cNvPr>
          <p:cNvSpPr>
            <a:spLocks noGrp="1"/>
          </p:cNvSpPr>
          <p:nvPr>
            <p:ph idx="1"/>
          </p:nvPr>
        </p:nvSpPr>
        <p:spPr/>
        <p:txBody>
          <a:bodyPr>
            <a:normAutofit/>
          </a:bodyPr>
          <a:lstStyle/>
          <a:p>
            <a:pPr marL="457200" lvl="1" indent="0">
              <a:buNone/>
            </a:pPr>
            <a:r>
              <a:rPr lang="en-US" dirty="0"/>
              <a:t> Account delinquency shows no direct correlation with education or job type. However,  on the basis of education Doctorate and Unknown segments exhibit slightly higher delinquency rates. But  states like AR, AZ, and CO have zero delinquents (but each state have 15 or less customers), While on the other hand IA, MA, and PA report a delinquency rate exceeding 10%.</a:t>
            </a:r>
          </a:p>
          <a:p>
            <a:pPr marL="457200" lvl="1" indent="0">
              <a:buNone/>
            </a:pPr>
            <a:r>
              <a:rPr lang="en-IN" b="1" dirty="0"/>
              <a:t>Action :- </a:t>
            </a:r>
            <a:r>
              <a:rPr lang="en-IN" dirty="0"/>
              <a:t>Bank should shrink the credit limit of the states exceeding 10% barrier until the delinquency rate comes to 7-8% or less.</a:t>
            </a:r>
          </a:p>
        </p:txBody>
      </p:sp>
    </p:spTree>
    <p:extLst>
      <p:ext uri="{BB962C8B-B14F-4D97-AF65-F5344CB8AC3E}">
        <p14:creationId xmlns:p14="http://schemas.microsoft.com/office/powerpoint/2010/main" val="3195417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51409-E737-7C5D-E623-C09B4D7B1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FFCD7-590E-9249-C2D9-C3309201DE29}"/>
              </a:ext>
            </a:extLst>
          </p:cNvPr>
          <p:cNvSpPr>
            <a:spLocks noGrp="1"/>
          </p:cNvSpPr>
          <p:nvPr>
            <p:ph type="title"/>
          </p:nvPr>
        </p:nvSpPr>
        <p:spPr/>
        <p:txBody>
          <a:bodyPr/>
          <a:lstStyle/>
          <a:p>
            <a:r>
              <a:rPr lang="en-US" b="1" dirty="0"/>
              <a:t>Blue to Platinum - The hidden opportunity </a:t>
            </a:r>
          </a:p>
        </p:txBody>
      </p:sp>
      <p:sp>
        <p:nvSpPr>
          <p:cNvPr id="3" name="Content Placeholder 2">
            <a:extLst>
              <a:ext uri="{FF2B5EF4-FFF2-40B4-BE49-F238E27FC236}">
                <a16:creationId xmlns:a16="http://schemas.microsoft.com/office/drawing/2014/main" id="{E361BE23-F73E-7D57-E53E-6BAFEBEB1F99}"/>
              </a:ext>
            </a:extLst>
          </p:cNvPr>
          <p:cNvSpPr>
            <a:spLocks noGrp="1"/>
          </p:cNvSpPr>
          <p:nvPr>
            <p:ph idx="1"/>
          </p:nvPr>
        </p:nvSpPr>
        <p:spPr/>
        <p:txBody>
          <a:bodyPr>
            <a:normAutofit/>
          </a:bodyPr>
          <a:lstStyle/>
          <a:p>
            <a:pPr marL="457200" lvl="1" indent="0">
              <a:buNone/>
            </a:pPr>
            <a:r>
              <a:rPr lang="en-IN" dirty="0"/>
              <a:t>only 67 customers are using platinum card and their average income is 189k(almost thrice of blue card average), but 105 customers are still using blue card who are earning more than 190k. These should be converted into Platinum users.</a:t>
            </a:r>
          </a:p>
          <a:p>
            <a:pPr marL="457200" lvl="1" indent="0">
              <a:buNone/>
            </a:pPr>
            <a:r>
              <a:rPr lang="en-IN" b="1" dirty="0"/>
              <a:t>Action :- </a:t>
            </a:r>
            <a:r>
              <a:rPr lang="en-IN" dirty="0"/>
              <a:t>The Platinum Subscription offer should be sent to these customers with information of  special benefits. One year strategic free Platinum Subscription can also be offered.</a:t>
            </a:r>
            <a:endParaRPr lang="en-IN" b="1" dirty="0"/>
          </a:p>
        </p:txBody>
      </p:sp>
    </p:spTree>
    <p:extLst>
      <p:ext uri="{BB962C8B-B14F-4D97-AF65-F5344CB8AC3E}">
        <p14:creationId xmlns:p14="http://schemas.microsoft.com/office/powerpoint/2010/main" val="1607861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D870F-0AE6-EFC2-04EC-B150F70FB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786BE-1EC5-C0BE-ACA1-30B63442B69A}"/>
              </a:ext>
            </a:extLst>
          </p:cNvPr>
          <p:cNvSpPr>
            <a:spLocks noGrp="1"/>
          </p:cNvSpPr>
          <p:nvPr>
            <p:ph type="title"/>
          </p:nvPr>
        </p:nvSpPr>
        <p:spPr/>
        <p:txBody>
          <a:bodyPr/>
          <a:lstStyle/>
          <a:p>
            <a:r>
              <a:rPr lang="en-US" b="1" dirty="0"/>
              <a:t>Other important insights</a:t>
            </a:r>
          </a:p>
        </p:txBody>
      </p:sp>
      <p:sp>
        <p:nvSpPr>
          <p:cNvPr id="3" name="Content Placeholder 2">
            <a:extLst>
              <a:ext uri="{FF2B5EF4-FFF2-40B4-BE49-F238E27FC236}">
                <a16:creationId xmlns:a16="http://schemas.microsoft.com/office/drawing/2014/main" id="{7DB69B19-933E-A1B7-8DD6-3FE351182CDE}"/>
              </a:ext>
            </a:extLst>
          </p:cNvPr>
          <p:cNvSpPr>
            <a:spLocks noGrp="1"/>
          </p:cNvSpPr>
          <p:nvPr>
            <p:ph idx="1"/>
          </p:nvPr>
        </p:nvSpPr>
        <p:spPr/>
        <p:txBody>
          <a:bodyPr>
            <a:normAutofit/>
          </a:bodyPr>
          <a:lstStyle/>
          <a:p>
            <a:pPr marL="800100" lvl="1" indent="-342900">
              <a:buAutoNum type="arabicPeriod"/>
            </a:pPr>
            <a:r>
              <a:rPr lang="en-IN" dirty="0">
                <a:latin typeface="+mj-lt"/>
              </a:rPr>
              <a:t>40-60 years of the customers are generating 76% of total revenue.</a:t>
            </a:r>
          </a:p>
          <a:p>
            <a:pPr marL="800100" lvl="1" indent="-342900">
              <a:buAutoNum type="arabicPeriod"/>
            </a:pPr>
            <a:r>
              <a:rPr lang="en-IN" dirty="0">
                <a:latin typeface="+mj-lt"/>
              </a:rPr>
              <a:t>47% revenue is coming from the top 30% customers on the basis of salary.</a:t>
            </a:r>
          </a:p>
          <a:p>
            <a:pPr marL="800100" lvl="1" indent="-342900">
              <a:buAutoNum type="arabicPeriod"/>
            </a:pPr>
            <a:r>
              <a:rPr lang="en-US" dirty="0">
                <a:latin typeface="+mj-lt"/>
              </a:rPr>
              <a:t>Male customers represent only 42% of the total customer base, yet they contribute 50% of the total revenue. Their average income is 82.3k, whereas female customers have an average income of 38.9k, which is less than half of the male customers’ average income.</a:t>
            </a:r>
          </a:p>
        </p:txBody>
      </p:sp>
    </p:spTree>
    <p:extLst>
      <p:ext uri="{BB962C8B-B14F-4D97-AF65-F5344CB8AC3E}">
        <p14:creationId xmlns:p14="http://schemas.microsoft.com/office/powerpoint/2010/main" val="1135579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Custom 1">
      <a:dk1>
        <a:srgbClr val="4E5D6C"/>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TM03457485[[fn=Mesh]]</Template>
  <TotalTime>2762</TotalTime>
  <Words>530</Words>
  <Application>Microsoft Office PowerPoint</Application>
  <PresentationFormat>Widescreen</PresentationFormat>
  <Paragraphs>29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Century Gothic</vt:lpstr>
      <vt:lpstr>Mesh</vt:lpstr>
      <vt:lpstr>Credit card Financial Report</vt:lpstr>
      <vt:lpstr>Step used in analysing the data</vt:lpstr>
      <vt:lpstr>Graduates Are the Volume kings</vt:lpstr>
      <vt:lpstr>Early 30 days activation – stuck revenue</vt:lpstr>
      <vt:lpstr>Revenue and customer concentration</vt:lpstr>
      <vt:lpstr>Analysis of Delinquency Patterns</vt:lpstr>
      <vt:lpstr>Blue to Platinum - The hidden opportunity </vt:lpstr>
      <vt:lpstr>Other important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rajput</dc:creator>
  <cp:lastModifiedBy>sahil rajput</cp:lastModifiedBy>
  <cp:revision>6</cp:revision>
  <dcterms:created xsi:type="dcterms:W3CDTF">2026-02-15T19:03:40Z</dcterms:created>
  <dcterms:modified xsi:type="dcterms:W3CDTF">2026-02-17T17:05:46Z</dcterms:modified>
</cp:coreProperties>
</file>